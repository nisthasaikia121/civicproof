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D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4AFC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530352"/>
            <a:ext cx="1508760" cy="310896"/>
          </a:xfrm>
          <a:prstGeom prst="roundRect">
            <a:avLst/>
          </a:prstGeom>
          <a:solidFill>
            <a:srgbClr val="3D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80C18"/>
                </a:solidFill>
                <a:latin typeface="Aptos"/>
              </a:defRPr>
            </a:pPr>
            <a:r>
              <a:t>VIBETHON · CIV-2026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F7FA"/>
                </a:solidFill>
                <a:latin typeface="Aptos"/>
              </a:defRPr>
            </a:pPr>
            <a:r>
              <a:t>CivicProof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3DDCD6"/>
                </a:solidFill>
                <a:latin typeface="Aptos"/>
              </a:defRPr>
            </a:pPr>
            <a:r>
              <a:t>Proof before “resolved.”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743200"/>
            <a:ext cx="6035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5F7FA"/>
                </a:solidFill>
                <a:latin typeface="Aptos"/>
              </a:defRPr>
            </a:pPr>
            <a:r>
              <a:t>A verifiable civic complaint layer where every report, action and resolution leaves an auditable trail.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160520"/>
            <a:ext cx="5852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4AFC2"/>
                </a:solidFill>
                <a:latin typeface="Aptos"/>
              </a:defRPr>
            </a:pPr>
            <a:r>
              <a:t>REPORT  →  TRACK  →  VERIFY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143000"/>
            <a:ext cx="3886200" cy="45262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481328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4AFC2"/>
                </a:solidFill>
                <a:latin typeface="Aptos"/>
              </a:defRPr>
            </a:pPr>
            <a:r>
              <a:t>CIVIC RESOLUTION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1874519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F7FA"/>
                </a:solidFill>
                <a:latin typeface="Aptos"/>
              </a:defRPr>
            </a:pPr>
            <a:r>
              <a:t>Broken Streetlight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2487168"/>
            <a:ext cx="1115568" cy="310896"/>
          </a:xfrm>
          <a:prstGeom prst="roundRect">
            <a:avLst/>
          </a:prstGeom>
          <a:solidFill>
            <a:srgbClr val="48D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80C18"/>
                </a:solidFill>
                <a:latin typeface="Aptos"/>
              </a:defRPr>
            </a:pPr>
            <a:r>
              <a:t>VERIFIED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971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4AFC2"/>
                </a:solidFill>
                <a:latin typeface="Aptos"/>
              </a:defRPr>
            </a:pPr>
            <a:r>
              <a:t>Before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297180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8D697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34107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4AFC2"/>
                </a:solidFill>
                <a:latin typeface="Aptos"/>
              </a:defRPr>
            </a:pPr>
            <a:r>
              <a:t>After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44200" y="3410712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8D697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384962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4AFC2"/>
                </a:solidFill>
                <a:latin typeface="Aptos"/>
              </a:defRPr>
            </a:pPr>
            <a:r>
              <a:t>Location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44200" y="3849624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8D697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4288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4AFC2"/>
                </a:solidFill>
                <a:latin typeface="Aptos"/>
              </a:defRPr>
            </a:pPr>
            <a:r>
              <a:t>Integrity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44200" y="4288536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8D697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47274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4AFC2"/>
                </a:solidFill>
                <a:latin typeface="Aptos"/>
              </a:defRPr>
            </a:pPr>
            <a:r>
              <a:t>Citizen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4727448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8D697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98932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“Don’t just mark it resolved. Prove it.”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438912"/>
            <a:ext cx="1234440" cy="310896"/>
          </a:xfrm>
          <a:prstGeom prst="roundRect">
            <a:avLst/>
          </a:prstGeom>
          <a:solidFill>
            <a:srgbClr val="3D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80C18"/>
                </a:solidFill>
                <a:latin typeface="Aptos"/>
              </a:defRPr>
            </a:pPr>
            <a:r>
              <a:t>01 ·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9611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F7FA"/>
                </a:solidFill>
                <a:latin typeface="Aptos"/>
              </a:defRPr>
            </a:pPr>
            <a:r>
              <a:t>Civic complaints need a trust layer.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270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4AFC2"/>
                </a:solidFill>
                <a:latin typeface="Aptos"/>
              </a:defRPr>
            </a:pPr>
            <a:r>
              <a:t>The gap is not reporting an issue — it is proving what happened after the report.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D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4AFC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31720"/>
            <a:ext cx="3474720" cy="9326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59" y="2587752"/>
            <a:ext cx="256032" cy="256032"/>
          </a:xfrm>
          <a:prstGeom prst="ellipse">
            <a:avLst/>
          </a:prstGeom>
          <a:solidFill>
            <a:srgbClr val="FF5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25295" y="24688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  <a:latin typeface="Aptos"/>
              </a:defRPr>
            </a:pPr>
            <a:r>
              <a:t>Complaints disappear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5" y="277063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4AFC2"/>
                </a:solidFill>
                <a:latin typeface="Aptos"/>
              </a:defRPr>
            </a:pPr>
            <a:r>
              <a:t>Citizens may not have clear proof their report was seen or acted 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331720"/>
            <a:ext cx="3474720" cy="9326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35424" y="2587752"/>
            <a:ext cx="256032" cy="256032"/>
          </a:xfrm>
          <a:prstGeom prst="ellipse">
            <a:avLst/>
          </a:prstGeom>
          <a:solidFill>
            <a:srgbClr val="FFA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24688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  <a:latin typeface="Aptos"/>
              </a:defRPr>
            </a:pPr>
            <a:r>
              <a:t>Records can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77063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4AFC2"/>
                </a:solidFill>
                <a:latin typeface="Aptos"/>
              </a:defRPr>
            </a:pPr>
            <a:r>
              <a:t>Status updates can overwrite history, making the process hard to audit.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2331720"/>
            <a:ext cx="3474720" cy="9326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47888" y="2587752"/>
            <a:ext cx="256032" cy="256032"/>
          </a:xfrm>
          <a:prstGeom prst="ellipse">
            <a:avLst/>
          </a:prstGeom>
          <a:solidFill>
            <a:srgbClr val="A9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0224" y="24688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  <a:latin typeface="Aptos"/>
              </a:defRPr>
            </a:pPr>
            <a:r>
              <a:t>“Resolved” ≠ fixed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50224" y="277063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4AFC2"/>
                </a:solidFill>
                <a:latin typeface="Aptos"/>
              </a:defRPr>
            </a:pPr>
            <a:r>
              <a:t>A closure action can exist without strong or current resolution evidence.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794760"/>
            <a:ext cx="10899648" cy="1508760"/>
          </a:xfrm>
          <a:prstGeom prst="roundRect">
            <a:avLst/>
          </a:prstGeom>
          <a:solidFill>
            <a:srgbClr val="16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0965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DDCD6"/>
                </a:solidFill>
                <a:latin typeface="Aptos"/>
              </a:defRPr>
            </a:pPr>
            <a:r>
              <a:t>THE CORE IDEA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4005072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7FA"/>
                </a:solidFill>
                <a:latin typeface="Aptos"/>
              </a:defRPr>
            </a:pPr>
            <a:r>
              <a:t>Make every civic action a verifiable event — without putting sensitive citizen data on-chain.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4681728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4AFC2"/>
                </a:solidFill>
                <a:latin typeface="Aptos"/>
              </a:defRPr>
            </a:pPr>
            <a:r>
              <a:t>Web3 is used for integrity and an immutable audit trail, not unnecessary complexity.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438912"/>
            <a:ext cx="1234440" cy="310896"/>
          </a:xfrm>
          <a:prstGeom prst="roundRect">
            <a:avLst/>
          </a:prstGeom>
          <a:solidFill>
            <a:srgbClr val="3D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80C18"/>
                </a:solidFill>
                <a:latin typeface="Aptos"/>
              </a:defRPr>
            </a:pPr>
            <a:r>
              <a:t>02 ·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9611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F7FA"/>
                </a:solidFill>
                <a:latin typeface="Aptos"/>
              </a:defRPr>
            </a:pPr>
            <a:r>
              <a:t>One complaint. One permanent timeline.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270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4AFC2"/>
                </a:solidFill>
                <a:latin typeface="Aptos"/>
              </a:defRPr>
            </a:pPr>
            <a:r>
              <a:t>CivicProof captures evidence at the critical moments of a civic issue.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D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4AFC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40280"/>
            <a:ext cx="3401568" cy="153619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7" y="2423160"/>
            <a:ext cx="438912" cy="310896"/>
          </a:xfrm>
          <a:prstGeom prst="roundRect">
            <a:avLst/>
          </a:prstGeom>
          <a:solidFill>
            <a:srgbClr val="3D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80C1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240487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7FA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862072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7FA"/>
                </a:solidFill>
                <a:latin typeface="Aptos"/>
              </a:defRPr>
            </a:pPr>
            <a:r>
              <a:t>Citizen submits complaint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246120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4AFC2"/>
                </a:solidFill>
                <a:latin typeface="Aptos"/>
              </a:defRPr>
            </a:pPr>
            <a:r>
              <a:t>Photo + location + issue details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2240280"/>
            <a:ext cx="3401568" cy="153619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44568" y="2423160"/>
            <a:ext cx="438912" cy="310896"/>
          </a:xfrm>
          <a:prstGeom prst="roundRect">
            <a:avLst/>
          </a:prstGeom>
          <a:solidFill>
            <a:srgbClr val="3D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80C1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1496" y="240487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7FA"/>
                </a:solidFill>
                <a:latin typeface="Aptos"/>
              </a:defRPr>
            </a:pPr>
            <a:r>
              <a:t>FINGERPRINT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862072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7FA"/>
                </a:solidFill>
                <a:latin typeface="Aptos"/>
              </a:defRPr>
            </a:pPr>
            <a:r>
              <a:t>Evidence is hashed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3246120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4AFC2"/>
                </a:solidFill>
                <a:latin typeface="Aptos"/>
              </a:defRPr>
            </a:pPr>
            <a:r>
              <a:t>Tamper-evident identity is created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2240280"/>
            <a:ext cx="3401568" cy="153619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47888" y="2423160"/>
            <a:ext cx="438912" cy="310896"/>
          </a:xfrm>
          <a:prstGeom prst="roundRect">
            <a:avLst/>
          </a:prstGeom>
          <a:solidFill>
            <a:srgbClr val="3D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80C1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14816" y="240487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7FA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862072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7FA"/>
                </a:solidFill>
                <a:latin typeface="Aptos"/>
              </a:defRPr>
            </a:pPr>
            <a:r>
              <a:t>Department accepts &amp; acts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3246120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4AFC2"/>
                </a:solidFill>
                <a:latin typeface="Aptos"/>
              </a:defRPr>
            </a:pPr>
            <a:r>
              <a:t>Assignment and status changes are recorded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114800"/>
            <a:ext cx="3401568" cy="153619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7" y="4297680"/>
            <a:ext cx="438912" cy="310896"/>
          </a:xfrm>
          <a:prstGeom prst="roundRect">
            <a:avLst/>
          </a:prstGeom>
          <a:solidFill>
            <a:srgbClr val="3D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80C1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8176" y="427939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7FA"/>
                </a:solidFill>
                <a:latin typeface="Aptos"/>
              </a:defRPr>
            </a:pPr>
            <a:r>
              <a:t>PROVE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4736592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7FA"/>
                </a:solidFill>
                <a:latin typeface="Aptos"/>
              </a:defRPr>
            </a:pPr>
            <a:r>
              <a:t>Officer submits resolution 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5120640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4AFC2"/>
                </a:solidFill>
                <a:latin typeface="Aptos"/>
              </a:defRPr>
            </a:pPr>
            <a:r>
              <a:t>After evidence + location + timestamp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61688" y="4114800"/>
            <a:ext cx="3401568" cy="153619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44568" y="4297680"/>
            <a:ext cx="438912" cy="310896"/>
          </a:xfrm>
          <a:prstGeom prst="roundRect">
            <a:avLst/>
          </a:prstGeom>
          <a:solidFill>
            <a:srgbClr val="3D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80C1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11496" y="427939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7FA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4568" y="4736592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7FA"/>
                </a:solidFill>
                <a:latin typeface="Aptos"/>
              </a:defRPr>
            </a:pPr>
            <a:r>
              <a:t>System checks evidence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4568" y="5120640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4AFC2"/>
                </a:solidFill>
                <a:latin typeface="Aptos"/>
              </a:defRPr>
            </a:pPr>
            <a:r>
              <a:t>Integrity + consistency + anomaly checks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5008" y="4114800"/>
            <a:ext cx="3401568" cy="153619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47888" y="4297680"/>
            <a:ext cx="438912" cy="310896"/>
          </a:xfrm>
          <a:prstGeom prst="roundRect">
            <a:avLst/>
          </a:prstGeom>
          <a:solidFill>
            <a:srgbClr val="3D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80C18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14816" y="427939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7FA"/>
                </a:solidFill>
                <a:latin typeface="Aptos"/>
              </a:defRPr>
            </a:pPr>
            <a:r>
              <a:t>CONFIRM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7888" y="4736592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7FA"/>
                </a:solidFill>
                <a:latin typeface="Aptos"/>
              </a:defRPr>
            </a:pPr>
            <a:r>
              <a:t>Citizen verifies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7888" y="5120640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4AFC2"/>
                </a:solidFill>
                <a:latin typeface="Aptos"/>
              </a:defRPr>
            </a:pPr>
            <a:r>
              <a:t>Fixed · Partially fixed · Still unresolved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1722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DDCD6"/>
                </a:solidFill>
                <a:latin typeface="Aptos"/>
              </a:defRPr>
            </a:pPr>
            <a:r>
              <a:t>If proof is missing or inconsistent, CivicProof does not silently accept “Resolved.”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438912"/>
            <a:ext cx="1234440" cy="310896"/>
          </a:xfrm>
          <a:prstGeom prst="roundRect">
            <a:avLst/>
          </a:prstGeom>
          <a:solidFill>
            <a:srgbClr val="3D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80C18"/>
                </a:solidFill>
                <a:latin typeface="Aptos"/>
              </a:defRPr>
            </a:pPr>
            <a:r>
              <a:t>03 · 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9611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F7FA"/>
                </a:solidFill>
                <a:latin typeface="Aptos"/>
              </a:defRPr>
            </a:pPr>
            <a:r>
              <a:t>Proof is built into the workflow.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270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4AFC2"/>
                </a:solidFill>
                <a:latin typeface="Aptos"/>
              </a:defRPr>
            </a:pPr>
            <a:r>
              <a:t>The MVP focuses on traceability, evidence integrity and citizen verification.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D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4AFC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5166360" cy="107899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48840"/>
            <a:ext cx="64008" cy="1078992"/>
          </a:xfrm>
          <a:prstGeom prst="rect">
            <a:avLst/>
          </a:prstGeom>
          <a:solidFill>
            <a:srgbClr val="3D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9514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7FA"/>
                </a:solidFill>
                <a:latin typeface="Aptos"/>
              </a:defRPr>
            </a:pPr>
            <a:r>
              <a:t>COMPLAINT DNA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24328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4AFC2"/>
                </a:solidFill>
                <a:latin typeface="Aptos"/>
              </a:defRPr>
            </a:pPr>
            <a:r>
              <a:t>Unique complaint identity linking the original report, evidence fingerprint, timestamp and events.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2148840"/>
            <a:ext cx="5166360" cy="107899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44768" y="2148840"/>
            <a:ext cx="64008" cy="1078992"/>
          </a:xfrm>
          <a:prstGeom prst="rect">
            <a:avLst/>
          </a:prstGeom>
          <a:solidFill>
            <a:srgbClr val="56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29514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7FA"/>
                </a:solidFill>
                <a:latin typeface="Aptos"/>
              </a:defRPr>
            </a:pPr>
            <a:r>
              <a:t>IMMUTABLE TIMELINE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24328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4AFC2"/>
                </a:solidFill>
                <a:latin typeface="Aptos"/>
              </a:defRPr>
            </a:pPr>
            <a:r>
              <a:t>Every important action becomes a traceable event — no silent edits.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474720"/>
            <a:ext cx="5166360" cy="107899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474720"/>
            <a:ext cx="64008" cy="1078992"/>
          </a:xfrm>
          <a:prstGeom prst="rect">
            <a:avLst/>
          </a:prstGeom>
          <a:solidFill>
            <a:srgbClr val="FF5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2102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7FA"/>
                </a:solidFill>
                <a:latin typeface="Aptos"/>
              </a:defRPr>
            </a:pPr>
            <a:r>
              <a:t>PROOF BEFORE RESOLVED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50208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4AFC2"/>
                </a:solidFill>
                <a:latin typeface="Aptos"/>
              </a:defRPr>
            </a:pPr>
            <a:r>
              <a:t>Closure is blocked until required resolution evidence is supplied.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3474720"/>
            <a:ext cx="5166360" cy="107899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3474720"/>
            <a:ext cx="64008" cy="1078992"/>
          </a:xfrm>
          <a:prstGeom prst="rect">
            <a:avLst/>
          </a:prstGeom>
          <a:solidFill>
            <a:srgbClr val="A9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62102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7FA"/>
                </a:solidFill>
                <a:latin typeface="Aptos"/>
              </a:defRPr>
            </a:pPr>
            <a:r>
              <a:t>EVIDENCE VERIFICATION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950208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4AFC2"/>
                </a:solidFill>
                <a:latin typeface="Aptos"/>
              </a:defRPr>
            </a:pPr>
            <a:r>
              <a:t>Checks location consistency, timestamp sanity, before/after change and duplicate evidence.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800600"/>
            <a:ext cx="5166360" cy="107899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800600"/>
            <a:ext cx="64008" cy="1078992"/>
          </a:xfrm>
          <a:prstGeom prst="rect">
            <a:avLst/>
          </a:prstGeom>
          <a:solidFill>
            <a:srgbClr val="48D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9469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7FA"/>
                </a:solidFill>
                <a:latin typeface="Aptos"/>
              </a:defRPr>
            </a:pPr>
            <a:r>
              <a:t>CITIZEN DISPUTES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276088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4AFC2"/>
                </a:solidFill>
                <a:latin typeface="Aptos"/>
              </a:defRPr>
            </a:pPr>
            <a:r>
              <a:t>Citizens can confirm, partially confirm or dispute a resolution while history stays intact.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4768" y="4800600"/>
            <a:ext cx="5166360" cy="107899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4800600"/>
            <a:ext cx="64008" cy="1078992"/>
          </a:xfrm>
          <a:prstGeom prst="rect">
            <a:avLst/>
          </a:prstGeom>
          <a:solidFill>
            <a:srgbClr val="FFA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9469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7FA"/>
                </a:solidFill>
                <a:latin typeface="Aptos"/>
              </a:defRPr>
            </a:pPr>
            <a:r>
              <a:t>RESOLUTION RECEIPT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276088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4AFC2"/>
                </a:solidFill>
                <a:latin typeface="Aptos"/>
              </a:defRPr>
            </a:pPr>
            <a:r>
              <a:t>Shareable proof showing verification status without exposing private citizen details.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438912"/>
            <a:ext cx="1234440" cy="310896"/>
          </a:xfrm>
          <a:prstGeom prst="roundRect">
            <a:avLst/>
          </a:prstGeom>
          <a:solidFill>
            <a:srgbClr val="3D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80C18"/>
                </a:solidFill>
                <a:latin typeface="Aptos"/>
              </a:defRPr>
            </a:pPr>
            <a:r>
              <a:t>04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9611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F7FA"/>
                </a:solidFill>
                <a:latin typeface="Aptos"/>
              </a:defRPr>
            </a:pPr>
            <a:r>
              <a:t>Verification-first by design.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270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4AFC2"/>
                </a:solidFill>
                <a:latin typeface="Aptos"/>
              </a:defRPr>
            </a:pPr>
            <a:r>
              <a:t>Sensitive evidence stays off-chain; blockchain stores integrity fingerprints and references.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D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4AFC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084831"/>
            <a:ext cx="10104120" cy="53035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07008" y="2194560"/>
            <a:ext cx="1325880" cy="310896"/>
          </a:xfrm>
          <a:prstGeom prst="roundRect">
            <a:avLst/>
          </a:prstGeom>
          <a:solidFill>
            <a:srgbClr val="3D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80C18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2194560"/>
            <a:ext cx="7909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F7FA"/>
                </a:solidFill>
                <a:latin typeface="Aptos"/>
              </a:defRPr>
            </a:pPr>
            <a:r>
              <a:t>Web app · citizen portal · officer dashboard · public verification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798063"/>
            <a:ext cx="10104120" cy="53035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07008" y="2907791"/>
            <a:ext cx="1325880" cy="310896"/>
          </a:xfrm>
          <a:prstGeom prst="roundRect">
            <a:avLst/>
          </a:prstGeom>
          <a:solidFill>
            <a:srgbClr val="56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80C18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907791"/>
            <a:ext cx="7909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F7FA"/>
                </a:solidFill>
                <a:latin typeface="Aptos"/>
              </a:defRPr>
            </a:pPr>
            <a:r>
              <a:t>Complaint API · authentication · notifications · SLA 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3511296"/>
            <a:ext cx="10104120" cy="53035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207008" y="3621024"/>
            <a:ext cx="1325880" cy="310896"/>
          </a:xfrm>
          <a:prstGeom prst="roundRect">
            <a:avLst/>
          </a:prstGeom>
          <a:solidFill>
            <a:srgbClr val="A9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80C18"/>
                </a:solidFill>
                <a:latin typeface="Aptos"/>
              </a:defRPr>
            </a:pPr>
            <a:r>
              <a:t>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621024"/>
            <a:ext cx="7909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F7FA"/>
                </a:solidFill>
                <a:latin typeface="Aptos"/>
              </a:defRPr>
            </a:pPr>
            <a:r>
              <a:t>Hashing · evidence checks · AI anomaly detection · dispute workflow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224527"/>
            <a:ext cx="10104120" cy="53035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207008" y="4334255"/>
            <a:ext cx="1325880" cy="310896"/>
          </a:xfrm>
          <a:prstGeom prst="roundRect">
            <a:avLst/>
          </a:prstGeom>
          <a:solidFill>
            <a:srgbClr val="48D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80C18"/>
                </a:solidFill>
                <a:latin typeface="Aptos"/>
              </a:defRPr>
            </a:pPr>
            <a:r>
              <a:t>WEB3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4334255"/>
            <a:ext cx="7909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F7FA"/>
                </a:solidFill>
                <a:latin typeface="Aptos"/>
              </a:defRPr>
            </a:pPr>
            <a:r>
              <a:t>Blockchain transactions · immutable event hashes · smart-contract rules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4937760"/>
            <a:ext cx="10104120" cy="53035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207008" y="5047488"/>
            <a:ext cx="1325880" cy="310896"/>
          </a:xfrm>
          <a:prstGeom prst="roundRect">
            <a:avLst/>
          </a:prstGeom>
          <a:solidFill>
            <a:srgbClr val="FFA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80C18"/>
                </a:solidFill>
                <a:latin typeface="Aptos"/>
              </a:defRPr>
            </a:pPr>
            <a:r>
              <a:t>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5047488"/>
            <a:ext cx="7909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F7FA"/>
                </a:solidFill>
                <a:latin typeface="Aptos"/>
              </a:defRPr>
            </a:pPr>
            <a:r>
              <a:t>Encrypted off-chain evidence + on-chain fingerprints / references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9893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DDCD6"/>
                </a:solidFill>
                <a:latin typeface="Aptos"/>
              </a:defRPr>
            </a:pPr>
            <a:r>
              <a:t>Privacy principle: public verification reveals only safe, non-sensitive information.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438912"/>
            <a:ext cx="1234440" cy="310896"/>
          </a:xfrm>
          <a:prstGeom prst="roundRect">
            <a:avLst/>
          </a:prstGeom>
          <a:solidFill>
            <a:srgbClr val="3D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80C18"/>
                </a:solidFill>
                <a:latin typeface="Aptos"/>
              </a:defRPr>
            </a:pPr>
            <a:r>
              <a:t>05 ·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9611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F7FA"/>
                </a:solidFill>
                <a:latin typeface="Aptos"/>
              </a:defRPr>
            </a:pPr>
            <a:r>
              <a:t>The failure case is the proof.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270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4AFC2"/>
                </a:solidFill>
                <a:latin typeface="Aptos"/>
              </a:defRPr>
            </a:pPr>
            <a:r>
              <a:t>A resolution cannot become “verified” just because someone clicked a button.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D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4AFC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2057400"/>
            <a:ext cx="393192" cy="393192"/>
          </a:xfrm>
          <a:prstGeom prst="ellipse">
            <a:avLst/>
          </a:prstGeom>
          <a:solidFill>
            <a:srgbClr val="3D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0C1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03911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7FA"/>
                </a:solidFill>
                <a:latin typeface="Aptos"/>
              </a:defRPr>
            </a:pPr>
            <a:r>
              <a:t>Citizen reports broken streetlight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391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DDCD6"/>
                </a:solidFill>
                <a:latin typeface="Aptos"/>
              </a:defRPr>
            </a:pPr>
            <a:r>
              <a:t>Photo + location captured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09828" y="2468880"/>
            <a:ext cx="0" cy="246888"/>
          </a:xfrm>
          <a:prstGeom prst="line">
            <a:avLst/>
          </a:prstGeom>
          <a:ln w="25400">
            <a:solidFill>
              <a:srgbClr val="232E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713232" y="2752344"/>
            <a:ext cx="393192" cy="393192"/>
          </a:xfrm>
          <a:prstGeom prst="ellipse">
            <a:avLst/>
          </a:prstGeom>
          <a:solidFill>
            <a:srgbClr val="FF5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0C18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73405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7FA"/>
                </a:solidFill>
                <a:latin typeface="Aptos"/>
              </a:defRPr>
            </a:pPr>
            <a:r>
              <a:t>Officer clicks “Mark Resolved”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73405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5C6F"/>
                </a:solidFill>
                <a:latin typeface="Aptos"/>
              </a:defRPr>
            </a:pPr>
            <a:r>
              <a:t>BLOCKED · proof required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09828" y="3163824"/>
            <a:ext cx="0" cy="246887"/>
          </a:xfrm>
          <a:prstGeom prst="line">
            <a:avLst/>
          </a:prstGeom>
          <a:ln w="25400">
            <a:solidFill>
              <a:srgbClr val="232E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13232" y="3447288"/>
            <a:ext cx="393192" cy="393192"/>
          </a:xfrm>
          <a:prstGeom prst="ellipse">
            <a:avLst/>
          </a:prstGeom>
          <a:solidFill>
            <a:srgbClr val="FFA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0C1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42900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7FA"/>
                </a:solidFill>
                <a:latin typeface="Aptos"/>
              </a:defRPr>
            </a:pPr>
            <a:r>
              <a:t>Unrelated proof is uploaded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4290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E53"/>
                </a:solidFill>
                <a:latin typeface="Aptos"/>
              </a:defRPr>
            </a:pPr>
            <a:r>
              <a:t>LOCATION MISMATCH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9828" y="3858768"/>
            <a:ext cx="0" cy="246888"/>
          </a:xfrm>
          <a:prstGeom prst="line">
            <a:avLst/>
          </a:prstGeom>
          <a:ln w="25400">
            <a:solidFill>
              <a:srgbClr val="232E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13232" y="4142232"/>
            <a:ext cx="393192" cy="393192"/>
          </a:xfrm>
          <a:prstGeom prst="ellipse">
            <a:avLst/>
          </a:prstGeom>
          <a:solidFill>
            <a:srgbClr val="48D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0C18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123944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7FA"/>
                </a:solidFill>
                <a:latin typeface="Aptos"/>
              </a:defRPr>
            </a:pPr>
            <a:r>
              <a:t>Correct after-proof is uploaded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412394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8D697"/>
                </a:solidFill>
                <a:latin typeface="Aptos"/>
              </a:defRPr>
            </a:pPr>
            <a:r>
              <a:t>VERIFICATION PASSED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09828" y="4553712"/>
            <a:ext cx="0" cy="246888"/>
          </a:xfrm>
          <a:prstGeom prst="line">
            <a:avLst/>
          </a:prstGeom>
          <a:ln w="25400">
            <a:solidFill>
              <a:srgbClr val="232E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13232" y="4837176"/>
            <a:ext cx="393192" cy="393192"/>
          </a:xfrm>
          <a:prstGeom prst="ellipse">
            <a:avLst/>
          </a:prstGeom>
          <a:solidFill>
            <a:srgbClr val="A9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0C18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81888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7FA"/>
                </a:solidFill>
                <a:latin typeface="Aptos"/>
              </a:defRPr>
            </a:pPr>
            <a:r>
              <a:t>Citizen selects “Still unresolved”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481888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970FF"/>
                </a:solidFill>
                <a:latin typeface="Aptos"/>
              </a:defRPr>
            </a:pPr>
            <a:r>
              <a:t>DISPUTE · history preserved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25880" y="5806440"/>
            <a:ext cx="10012680" cy="502920"/>
          </a:xfrm>
          <a:prstGeom prst="roundRect">
            <a:avLst/>
          </a:prstGeom>
          <a:solidFill>
            <a:srgbClr val="16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200" y="5907024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F7FA"/>
                </a:solidFill>
                <a:latin typeface="Aptos"/>
              </a:defRPr>
            </a:pPr>
            <a:r>
              <a:t>Every failed attempt remains part of the audit trail — creating accountability, not just a closed ticket.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